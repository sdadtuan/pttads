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t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39" y="777240"/>
            <a:ext cx="1234440" cy="12344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148840"/>
            <a:ext cx="9144000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423160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Giai đoạn Tư vấn (Consult)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063240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0">
                <a:solidFill>
                  <a:srgbClr val="C7D2FE"/>
                </a:solidFill>
              </a:defRPr>
            </a:pPr>
            <a:r>
              <a:t>Service Lifecycle CRM — PTT Advertising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703320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</a:defRPr>
            </a:pPr>
            <a:r>
              <a:t>Brief Lead · Prefill · Gate funnel · AI · Proposal bridge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51960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</a:defRPr>
            </a:pPr>
            <a:r>
              <a:t>Spec v1.0 · 2026-06-30 · docs/specs/2026-06-30-consult-stage-system-design.md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t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73152"/>
            <a:ext cx="804672" cy="8046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146304"/>
            <a:ext cx="7040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Mục lục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83210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t>I. Vấn đề &amp; hiện trạng hệ thống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t>II. Nghiệp vụ Consult trong vòng đời 7 giai đoạn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t>III. Input từ Lead · BANT+ · Go/Nurture/No-Go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t>IV. Giải pháp: Consult Brief · Prefill · Gate · AI · Proposal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t>V. Consult task theo 12 dịch vụ (từ CRM template)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t>VI. RACI · SLA · KPI funnel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t>VII. Kế hoạch triển khai C0–C6 · Go-live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t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73152"/>
            <a:ext cx="804672" cy="8046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146304"/>
            <a:ext cx="7040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Vấn đề hiện tại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21792"/>
            <a:ext cx="7040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7D2FE"/>
                </a:solidFill>
              </a:defRPr>
            </a:pPr>
            <a:r>
              <a:t>Khảo sát codebase PTTADS · 2026-06-30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51560"/>
            <a:ext cx="83210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Consult = stage generic trong workflow — không có module bridge riêng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Lead Intake mạnh ở stage Lead nhưng DỪNG ở merge task Lead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Form Consult mở ra TRỐNG — AM nhập lại niche/budget/pain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AI consult_analysis thiếu BANT/decision/Intake context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Proposal AI không đọc audit Consult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no_go vẫn chuyển Consult nếu tick xong task Lead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Hệ quả: lãng phí effort, báo giá thiếu scope, không đo funnel Go→Consult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t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73152"/>
            <a:ext cx="804672" cy="8046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146304"/>
            <a:ext cx="7040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7 giai đoạn Service 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21792"/>
            <a:ext cx="7040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7D2FE"/>
                </a:solidFill>
              </a:defRPr>
            </a:pPr>
            <a:r>
              <a:t>Chỉ được chuyển tuần tự — hoàn thành 100% task stage hiện tại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28600" y="1024128"/>
          <a:ext cx="8686798" cy="534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9626"/>
                <a:gridCol w="1424065"/>
                <a:gridCol w="4984229"/>
                <a:gridCol w="1708878"/>
              </a:tblGrid>
              <a:tr h="668655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Stage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Mục tiêu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Sync Lead care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</a:tr>
              <a:tr h="66865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Lead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Qualify sơ bộ · Intake phone/B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first_contact</a:t>
                      </a:r>
                    </a:p>
                  </a:txBody>
                  <a:tcPr/>
                </a:tc>
              </a:tr>
              <a:tr h="66865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Tư vấn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Audit/discovery sâu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qualify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6865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Báo giá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Proposal + KPI cam kết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advise</a:t>
                      </a:r>
                    </a:p>
                  </a:txBody>
                  <a:tcPr/>
                </a:tc>
              </a:tr>
              <a:tr h="66865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Onboarding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Kickoff · access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closing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6865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Triển khai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Deliver hàng tháng/sprint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post_sale</a:t>
                      </a:r>
                    </a:p>
                  </a:txBody>
                  <a:tcPr/>
                </a:tc>
              </a:tr>
              <a:tr h="66865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Nghiệm thu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Handover KPI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post_sale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6865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Chăm sóc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Retain · upsell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post_sale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t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73152"/>
            <a:ext cx="804672" cy="8046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146304"/>
            <a:ext cx="7040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BANT+ &amp; Quyết định (Lead Intake)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21792"/>
            <a:ext cx="7040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7D2FE"/>
                </a:solidFill>
              </a:defRPr>
            </a:pPr>
            <a:r>
              <a:t>6 tiêu chí × 1–5: budget, authority, need, timeline, fit, history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28600" y="1024128"/>
          <a:ext cx="8686800" cy="534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1700"/>
                <a:gridCol w="2171700"/>
                <a:gridCol w="2171700"/>
                <a:gridCol w="2171700"/>
              </a:tblGrid>
              <a:tr h="1069848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Điểm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Decision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Consult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Hành động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</a:tr>
              <a:tr h="106984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≥ 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Go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Consult đầy đủ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Audit → Proposal ≤48h</a:t>
                      </a:r>
                    </a:p>
                  </a:txBody>
                  <a:tcPr/>
                </a:tc>
              </a:tr>
              <a:tr h="106984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18–23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Nurture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Consult nhẹ / follow-up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Drip 7–14 ngày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106984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&lt; 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No-Go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Không Consult sâu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Đóng lifecycle / chuyển DV</a:t>
                      </a:r>
                    </a:p>
                  </a:txBody>
                  <a:tcPr/>
                </a:tc>
              </a:tr>
              <a:tr h="106984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≥2 red flags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No-Go (gợi ý)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Cảnh báo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Director override nếu Go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t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73152"/>
            <a:ext cx="804672" cy="8046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146304"/>
            <a:ext cx="7040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Input bắt buộc từ Lead → Consult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83210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Từ task Lead (form_data): niche, budget, need, domain… theo từng dịch vụ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Từ Lead Intake session: BANT, decision, answers, stakeholders, 3 cam kết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Từ AI Intake: ai_summary, red flags, recommended_next_step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Lịch: next_meeting_at, proposal_date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Gate trước khi chuyển Lead → Consult:</a:t>
            </a:r>
          </a:p>
          <a:p>
            <a:pPr lvl="1"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  ✓ 100% task Lead done (engine hiện có)</a:t>
            </a:r>
          </a:p>
          <a:p>
            <a:pPr lvl="1"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  ✓ decision set · cảnh báo no_go / nurture (triển khai C3)</a:t>
            </a:r>
          </a:p>
          <a:p>
            <a:pPr lvl="1"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  ✓ Khuyến nghị: có Intake in_person nếu decision=go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t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73152"/>
            <a:ext cx="804672" cy="8046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146304"/>
            <a:ext cx="7040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Luồng mục tiêu (Target state)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21792"/>
            <a:ext cx="7040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7D2FE"/>
                </a:solidFill>
              </a:defRPr>
            </a:pPr>
            <a:r>
              <a:t>Sau triển khai Consult Bridge v1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51560"/>
            <a:ext cx="83210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1. Intake phone (PHẦN A) → decision + BANT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2. Go → hẹn Intake gặp (PHẦN B) → auto ✓ task Lead nếu BANT≥24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3. AM: Chuyển → Tư vấn → prefill Consult + hiện Consult Brief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4. Audit theo task Consult (12 DV) + AI consult_analysis (full context)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5. Tick ✓ Consult → Chuyển → Báo giá (Proposal đọc Consult output)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Khác biệt Lead vs Consult:</a:t>
            </a:r>
          </a:p>
          <a:p>
            <a:pPr lvl="1"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  Lead = qualify + BANT + cam kết (Intake form)</a:t>
            </a:r>
          </a:p>
          <a:p>
            <a:pPr lvl="1"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  Consult = audit chuyên môn + scope cho báo giá (task CRM)</a:t>
            </a:r>
          </a:p>
          <a:p>
            <a:pPr lvl="1"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  Consult miễn phí — PTT không thu phí tư vấn; doanh thu chỉ sau ký HĐ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t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73152"/>
            <a:ext cx="804672" cy="8046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146304"/>
            <a:ext cx="7040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Giải pháp C1 — Consult Brief Panel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21792"/>
            <a:ext cx="7040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7D2FE"/>
                </a:solidFill>
              </a:defRPr>
            </a:pPr>
            <a:r>
              <a:t>UI trên /crm/service-delivery/&lt;lifecycle_id&gt;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51560"/>
            <a:ext cx="83210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Hiển thị khi lifecycle.stage = consult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Tổng hợp: decision, BANT, temperature, pain, budget, domain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Danh sách Intake sessions (gọi/gặp) + AI summary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Stakeholders · 3 cam kết KH · proposal_date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Cảnh báo: chưa có PHẦN B in_person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Nút: Prefill form · Mở Intake · Xem task Lead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API: GET /api/crm/service-lifecycle/&lt;id&gt;/consult-brief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Module: crm_svc_consult_bridge.get_consult_brief()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t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73152"/>
            <a:ext cx="804672" cy="8046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146304"/>
            <a:ext cx="7040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Giải pháp C2 — Prefill Consult 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83210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Hook: advance_stage(..., 'consult') + POST consult-prefill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Chỉ điền field TRỐNG — không ghi đè AM đã sửa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Mapping mẫu (SEO Tổng thể):</a:t>
            </a:r>
          </a:p>
          <a:p>
            <a:pPr lvl="1"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  Lead need → Consult current_status (Pain: …)</a:t>
            </a:r>
          </a:p>
          <a:p>
            <a:pPr lvl="1"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  Intake answers → target_keywords, top_competitors</a:t>
            </a:r>
          </a:p>
          <a:p>
            <a:pPr lvl="1"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  Lead niche/budget → append notes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get_crm_field_map(slug) trong crm_lead_intake_definitions.py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t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73152"/>
            <a:ext cx="804672" cy="8046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146304"/>
            <a:ext cx="7040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Giải pháp C3 — Gate &amp; automation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83210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validate_consult_advance(): ok | warn | block</a:t>
            </a:r>
          </a:p>
          <a:p>
            <a:pPr lvl="1"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  block: decision=no_go (trừ Director override)</a:t>
            </a:r>
          </a:p>
          <a:p>
            <a:pPr lvl="1"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  warn: nurture hoặc BANT 18–23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on_intake_completed():</a:t>
            </a:r>
          </a:p>
          <a:p>
            <a:pPr lvl="1"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  in_person + go + BANT≥24 → auto ✓ task Lead</a:t>
            </a:r>
          </a:p>
          <a:p>
            <a:pPr lvl="1"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  phone + go → reminder Hẹn PHẦN B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UI: banner Sẵn sàng chuyển Tư vấn / ẩn Lead Intake khi stage≠lead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t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73152"/>
            <a:ext cx="804672" cy="8046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146304"/>
            <a:ext cx="7040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Giải pháp C4–C5 — AI &amp; Proposal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83210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C4: build_ai_context_for_consult() merge brief vào AI assist</a:t>
            </a:r>
          </a:p>
          <a:p>
            <a:pPr lvl="1"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  Prompt consult_analysis + BANT + intake excerpt + lead form_data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C5: crm_proposal.get_customer_context đọc task Consult</a:t>
            </a:r>
          </a:p>
          <a:p>
            <a:pPr lvl="1"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  form_data + ai_output → Proposal AI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Nút workflow: Tạo Proposal từ Consult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t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73152"/>
            <a:ext cx="804672" cy="8046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146304"/>
            <a:ext cx="7040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Consult task — 12 dịch vụ (CRM template)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21792"/>
            <a:ext cx="7040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7D2FE"/>
                </a:solidFill>
              </a:defRPr>
            </a:pPr>
            <a:r>
              <a:t>Seed từ crm_svc_workflow_steps.py · 1 task / dịch vụ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28600" y="1024128"/>
          <a:ext cx="8686799" cy="534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6460"/>
                <a:gridCol w="1945843"/>
                <a:gridCol w="2779776"/>
                <a:gridCol w="3474720"/>
              </a:tblGrid>
              <a:tr h="411480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Dịch vụ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Task Consult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Form fields (keys)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Dịch vụ AEO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Audit AI search presence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current_status, content_gaps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Quản trị Website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Đánh giá website &amp; xác định scope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current_status, pain_points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SEO Audit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Scoping &amp; phân tích sơ bộ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audit_scope, current_status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SEO Local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GBP audit &amp; local keyword research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current_status, local_keywords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SEO Tổng thể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Audit website &amp; phân tích từ khóa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current_status, top_competitors, target_keywords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Quảng cáo Facebook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Phân tích &amp; lên strategy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target_audience, current_status, product_usp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Quảng cáo Google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Keyword research &amp; account strategy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target_keywords, current_status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Landing Page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Brief landing page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target_audience, usp, cta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Thiết kế Website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Thu thập yêu cầu chi tiết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current_status, design_refs, pages_count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Website Trọn gói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Tư vấn kỹ thuật &amp; thu thập yêu cầu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current_status, integrations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Thuê Tài khoản 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Đánh giá rủi ro &amp; điều khoản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current_status, risk_assessment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Tiếp thị Nội dung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Phân tích content &amp; lên strategy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current_status, top_competitors, target_audience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t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73152"/>
            <a:ext cx="804672" cy="8046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146304"/>
            <a:ext cx="7040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RACI &amp; SLA — Giai đoạn Consult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28600" y="1024128"/>
          <a:ext cx="8686799" cy="534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914400"/>
                <a:gridCol w="914400"/>
                <a:gridCol w="3047999"/>
              </a:tblGrid>
              <a:tr h="891540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Hoạt động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AM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SP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SLA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</a:tr>
              <a:tr h="8915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Đọc Consult Brief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Ngay khi vào Consult</a:t>
                      </a:r>
                    </a:p>
                  </a:txBody>
                  <a:tcPr/>
                </a:tc>
              </a:tr>
              <a:tr h="8915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Audit / discovery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3–7 ngày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915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Điền form + AI assist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Trong buổi tư vấn</a:t>
                      </a:r>
                    </a:p>
                  </a:txBody>
                  <a:tcPr/>
                </a:tc>
              </a:tr>
              <a:tr h="8915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Chuyển Proposal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I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≤48h sau meeting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915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Override No-Go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Director duyệt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t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73152"/>
            <a:ext cx="804672" cy="8046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146304"/>
            <a:ext cx="7040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KPI funnel (triển khai C6)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28600" y="1024128"/>
          <a:ext cx="8686800" cy="534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5600"/>
                <a:gridCol w="2895600"/>
                <a:gridCol w="2895600"/>
              </a:tblGrid>
              <a:tr h="891540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KPI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Công thức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Ngưỡng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</a:tr>
              <a:tr h="8915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Go → Consult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stage≥consult &amp; intake go / total go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≥35%</a:t>
                      </a:r>
                    </a:p>
                  </a:txBody>
                  <a:tcPr/>
                </a:tc>
              </a:tr>
              <a:tr h="8915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Consult → Proposal ≤7d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proposal within 7d of consult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≥60%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915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Consult task done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consult tasks ✓ / entered consult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≥80%</a:t>
                      </a:r>
                    </a:p>
                  </a:txBody>
                  <a:tcPr/>
                </a:tc>
              </a:tr>
              <a:tr h="8915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BANT avg won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avg bant lifecycle won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≥22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915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in_person trước Consult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in_person before consult / go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≥80%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t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73152"/>
            <a:ext cx="804672" cy="8046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146304"/>
            <a:ext cx="7040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Kế hoạch triển khai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21792"/>
            <a:ext cx="7040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7D2FE"/>
                </a:solidFill>
              </a:defRPr>
            </a:pPr>
            <a:r>
              <a:t>Tổng ~3–4 tuần · Spec: docs/specs/2026-06-30-consult-stage-system-design.md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28600" y="1024128"/>
          <a:ext cx="8686800" cy="534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5600"/>
                <a:gridCol w="2895600"/>
                <a:gridCol w="2895600"/>
              </a:tblGrid>
              <a:tr h="668655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Phase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Thời gian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Deliverable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</a:tr>
              <a:tr h="66865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2 ngày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SOP + PPT đào tạo (file này)</a:t>
                      </a:r>
                    </a:p>
                  </a:txBody>
                  <a:tcPr/>
                </a:tc>
              </a:tr>
              <a:tr h="66865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C1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4 ngày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Consult Brief panel + API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6865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3 ngày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Prefill Consult + field map</a:t>
                      </a:r>
                    </a:p>
                  </a:txBody>
                  <a:tcPr/>
                </a:tc>
              </a:tr>
              <a:tr h="66865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C3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4 ngày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Gate no_go/nurture + auto ✓ Lead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6865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C4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3 ngày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AI context enrich</a:t>
                      </a:r>
                    </a:p>
                  </a:txBody>
                  <a:tcPr/>
                </a:tc>
              </a:tr>
              <a:tr h="66865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C5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4 ngày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Proposal bridge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6865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C6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2 ngày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KPI funnel dashboard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t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73152"/>
            <a:ext cx="804672" cy="8046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146304"/>
            <a:ext cx="7040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Checklist AM — Khi vào giai đoạn Tư vấn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83210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□ Mở Consult Brief — xác nhận decision &amp; BANT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□ Nếu Go mà chưa gặp PHẦN B → hẹn Intake in_person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□ Thu tài liệu L2 (GSC, GBP, Ads account…) theo dịch vụ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□ Kiểm tra prefill form Consult — bổ sung field trống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□ Thực hiện audit/discovery theo task title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□ Chạy AI Hỗ trợ → review → chỉnh notes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□ Tick ✓ task Consult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□ Chuyển → Báo giá trong 48h (Proposal prefill từ Consult)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t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73152"/>
            <a:ext cx="804672" cy="8046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146304"/>
            <a:ext cx="7040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CRM hôm nay vs sau C1–C6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21792"/>
            <a:ext cx="7040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7D2FE"/>
                </a:solidFill>
              </a:defRPr>
            </a:pPr>
            <a:r>
              <a:t>Phase C0 = tài liệu · Code bắt đầu từ C1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51560"/>
            <a:ext cx="83210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ĐÃ CÓ:</a:t>
            </a:r>
          </a:p>
          <a:p>
            <a:pPr lvl="1"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  Workflow 7 stage · task Consult template 12 DV · Lead Intake web</a:t>
            </a:r>
          </a:p>
          <a:p>
            <a:pPr lvl="1"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  Chuyển Lead→Consult (tick ✓ task Lead) · AI assist cơ bản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CHƯA CÓ (roadmap):</a:t>
            </a:r>
          </a:p>
          <a:p>
            <a:pPr lvl="1"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  Consult Brief panel · Prefill form Consult · Gate no_go/nurture</a:t>
            </a:r>
          </a:p>
          <a:p>
            <a:pPr lvl="1"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  AI đọc full Intake · Proposal prefill từ Consult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AM TẠM THỜI: mở tab Lead + Intake song song khi làm Consult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SOP: docs/runbooks/consult-stage-am-sop.md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t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73152"/>
            <a:ext cx="804672" cy="8046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146304"/>
            <a:ext cx="7040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Lead vs Consult — Không nhầm lẫn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28600" y="1024128"/>
          <a:ext cx="8686798" cy="534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4646"/>
                <a:gridCol w="3341076"/>
                <a:gridCol w="3341076"/>
              </a:tblGrid>
              <a:tr h="764177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Lead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Consult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</a:tr>
              <a:tr h="76417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Công cụ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Lead Intake PHẦN A/B + task Lead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Task Consult workflow</a:t>
                      </a:r>
                    </a:p>
                  </a:txBody>
                  <a:tcPr/>
                </a:tc>
              </a:tr>
              <a:tr h="76417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Thời lượng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15–25p gọi · 45–60p gặp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Audit 3–7 ngày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6417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Mục tiêu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BANT+ · Go/Nurture/No-Go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Audit · scope Proposal</a:t>
                      </a:r>
                    </a:p>
                  </a:txBody>
                  <a:tcPr/>
                </a:tc>
              </a:tr>
              <a:tr h="76417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Output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decision · cam kết KH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form_data · AI analysis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6417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Doanh thu PTT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Không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Không — miễn phí pre-sales</a:t>
                      </a:r>
                    </a:p>
                  </a:txBody>
                  <a:tcPr/>
                </a:tc>
              </a:tr>
              <a:tr h="76417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Stage care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first_contact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qualify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t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73152"/>
            <a:ext cx="804672" cy="8046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146304"/>
            <a:ext cx="7040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Tài liệu Phase C0 (repo)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83210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docs/Consult_Stage_Service_Delivery.pptx — slide deck này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docs/runbooks/consult-stage-am-sop.md — SOP AM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docs/runbooks/consult-stage-training-guide.md — kịch bản 45p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docs/runbooks/consult-stage-service-tasks.md — 12 task Consult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docs/runbooks/consult-stage-bant-signoff.md — Director ký ngưỡng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docs/crm/README.md — mục lục CRM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Tạo lại: python3 scripts/generate_consult_stage_pptx.py</a:t>
            </a:r>
          </a:p>
          <a:p>
            <a:pPr lvl="1"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         python3 scripts/generate_consult_runbook_appendix.py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051560"/>
            <a:ext cx="83210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□ Training 45 phút với slide deck này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□ Pilot 2 lifecycle: SEO Tổng thể + Facebook Ads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□ Director sign-off gate No-Go / Nurture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□ Monitor 2 tuần: prefill rate, consult→proposal time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□ Tiêu chí nghiệm thu spec §14 — 8 checkbox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t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0" y="18288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1546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Cảm ơn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77639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0">
                <a:solidFill>
                  <a:srgbClr val="64748B"/>
                </a:solidFill>
              </a:defRPr>
            </a:pPr>
            <a:r>
              <a:t>PTT Advertising Solutions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4348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</a:defRPr>
            </a:pPr>
            <a:r>
              <a:t>CRM Service Delivery · Consult Stage v1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