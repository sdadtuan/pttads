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Email Marketing Ops — PTTADS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ops-web /email/* · Nest API · không Flask · P1 UX parity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Canonical staff UI: ops-web E-01…E-13</a:t>
            </a:r>
          </a:p>
          <a:p>
            <a:pPr>
              <a:spcAft>
                <a:spcPts val="800"/>
              </a:spcAft>
              <a:defRPr sz="1600"/>
            </a:pPr>
            <a:r>
              <a:t>API: Nest /api/v1/email/*</a:t>
            </a:r>
          </a:p>
          <a:p>
            <a:pPr>
              <a:spcAft>
                <a:spcPts val="800"/>
              </a:spcAft>
              <a:defRPr sz="1600"/>
            </a:pPr>
            <a:r>
              <a:t>Workers: ptt_email/ + PostgreSQL email_mkt.*</a:t>
            </a:r>
          </a:p>
          <a:p>
            <a:pPr>
              <a:spcAft>
                <a:spcPts val="800"/>
              </a:spcAft>
              <a:defRPr sz="1600"/>
            </a:pPr>
            <a:r>
              <a:t>Tài liệu: docs/huong-dan-email-marketing-ops.md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E-01 Hub &amp; Alerts (P1.3)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Executive view + deliverability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/email/hub — KPI sent, open rate, complaint, queue lag</a:t>
            </a:r>
          </a:p>
          <a:p>
            <a:pPr>
              <a:spcAft>
                <a:spcPts val="800"/>
              </a:spcAft>
              <a:defRPr sz="1600"/>
            </a:pPr>
            <a:r>
              <a:t>Alerts banner → link /email/deliverability</a:t>
            </a:r>
          </a:p>
          <a:p>
            <a:pPr>
              <a:spcAft>
                <a:spcPts val="800"/>
              </a:spcAft>
              <a:defRPr sz="1600"/>
            </a:pPr>
            <a:r>
              <a:t>Slack/Teams: PTT_EMAIL_SLACK_WEBHOOK / PTT_EMAIL_TEAMS_WEBHOOK</a:t>
            </a:r>
          </a:p>
          <a:p>
            <a:pPr>
              <a:spcAft>
                <a:spcPts val="800"/>
              </a:spcAft>
              <a:defRPr sz="1600"/>
            </a:pPr>
            <a:r>
              <a:t>Drill-down: hub → client → contacts (≤3 clicks)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E-07 Segment Builder (P1.2)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Lifecycle · RFM · Behavior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Tabs: Rules, Static, Lifecycle, RFM, Behavior</a:t>
            </a:r>
          </a:p>
          <a:p>
            <a:pPr>
              <a:spcAft>
                <a:spcPts val="800"/>
              </a:spcAft>
              <a:defRPr sz="1600"/>
            </a:pPr>
            <a:r>
              <a:t>Compute segment → member_count + eligibility filter</a:t>
            </a:r>
          </a:p>
          <a:p>
            <a:pPr>
              <a:spcAft>
                <a:spcPts val="800"/>
              </a:spcAft>
              <a:defRPr sz="1600"/>
            </a:pPr>
            <a:r>
              <a:t>Consent + suppression auto-excluded</a:t>
            </a:r>
          </a:p>
          <a:p>
            <a:pPr>
              <a:spcAft>
                <a:spcPts val="800"/>
              </a:spcAft>
              <a:defRPr sz="1600"/>
            </a:pPr>
            <a:r>
              <a:t>Route: /email/segments?client_id=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E-11 Deliverability &amp; Domain Wizard (P1.5)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AM-friendly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Wizard 3 bước: Domain → DNS records → Verify &amp; warm-up</a:t>
            </a:r>
          </a:p>
          <a:p>
            <a:pPr>
              <a:spcAft>
                <a:spcPts val="800"/>
              </a:spcAft>
              <a:defRPr sz="1600"/>
            </a:pPr>
            <a:r>
              <a:t>SPF / DKIM / DMARC status badges</a:t>
            </a:r>
          </a:p>
          <a:p>
            <a:pPr>
              <a:spcAft>
                <a:spcPts val="800"/>
              </a:spcAft>
              <a:defRPr sz="1600"/>
            </a:pPr>
            <a:r>
              <a:t>Pause domain khi complaint cao</a:t>
            </a:r>
          </a:p>
          <a:p>
            <a:pPr>
              <a:spcAft>
                <a:spcPts val="800"/>
              </a:spcAft>
              <a:defRPr sz="1600"/>
            </a:pPr>
            <a:r>
              <a:t>Route: /email/deliverability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E-12 Reports &amp; Grafana (P1.4)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Analytics center + BI embed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Engagement chart, deliverability scorecard</a:t>
            </a:r>
          </a:p>
          <a:p>
            <a:pPr>
              <a:spcAft>
                <a:spcPts val="800"/>
              </a:spcAft>
              <a:defRPr sz="1600"/>
            </a:pPr>
            <a:r>
              <a:t>ClickHouse export job</a:t>
            </a:r>
          </a:p>
          <a:p>
            <a:pPr>
              <a:spcAft>
                <a:spcPts val="800"/>
              </a:spcAft>
              <a:defRPr sz="1600"/>
            </a:pPr>
            <a:r>
              <a:t>Grafana: PTT_EMAIL_GRAFANA_URL + deploy/grafana/email-ops-dashboard.json</a:t>
            </a:r>
          </a:p>
          <a:p>
            <a:pPr>
              <a:spcAft>
                <a:spcPts val="800"/>
              </a:spcAft>
              <a:defRPr sz="1600"/>
            </a:pPr>
            <a:r>
              <a:t>API: GET /api/v1/email/reports/bi-status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E-13 Governance Write (P1.1)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CRUD rules + audit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Global rules: frequency_cap, quiet_hours, complaint threshold</a:t>
            </a:r>
          </a:p>
          <a:p>
            <a:pPr>
              <a:spcAft>
                <a:spcPts val="800"/>
              </a:spcAft>
              <a:defRPr sz="1600"/>
            </a:pPr>
            <a:r>
              <a:t>POST/PATCH/DELETE /api/v1/email/governance/rules</a:t>
            </a:r>
          </a:p>
          <a:p>
            <a:pPr>
              <a:spcAft>
                <a:spcPts val="800"/>
              </a:spcAft>
              <a:defRPr sz="1600"/>
            </a:pPr>
            <a:r>
              <a:t>Audit log 50 bản ghi gần nhất (before/after JSON)</a:t>
            </a:r>
          </a:p>
          <a:p>
            <a:pPr>
              <a:spcAft>
                <a:spcPts val="800"/>
              </a:spcAft>
              <a:defRPr sz="1600"/>
            </a:pPr>
            <a:r>
              <a:t>Cap: crm_email_mkt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 cutover &amp;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EM-5 Gate A + P1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Staged B1→B4: PTT_EMAIL_ENABLED → SEND → PORTAL → JOURNEYS</a:t>
            </a:r>
          </a:p>
          <a:p>
            <a:pPr>
              <a:spcAft>
                <a:spcPts val="800"/>
              </a:spcAft>
              <a:defRPr sz="1600"/>
            </a:pPr>
            <a:r>
              <a:t>Gate A: ./scripts/phase5_email_prod_pilot_gate.sh</a:t>
            </a:r>
          </a:p>
          <a:p>
            <a:pPr>
              <a:spcAft>
                <a:spcPts val="800"/>
              </a:spcAft>
              <a:defRPr sz="1600"/>
            </a:pPr>
            <a:r>
              <a:t>Handoff E2E: email-handoff.spec.ts</a:t>
            </a:r>
          </a:p>
          <a:p>
            <a:pPr>
              <a:spcAft>
                <a:spcPts val="800"/>
              </a:spcAft>
              <a:defRPr sz="1600"/>
            </a:pPr>
            <a:r>
              <a:t>P1 gate: ./scripts/email_p1_gate.sh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Checklist &amp; tài liệu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Vận hành hàng ngày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Checklist A4: docs/forms/email-marketing-ops-checklist-a4.html</a:t>
            </a:r>
          </a:p>
          <a:p>
            <a:pPr>
              <a:spcAft>
                <a:spcPts val="800"/>
              </a:spcAft>
              <a:defRPr sz="1600"/>
            </a:pPr>
            <a:r>
              <a:t>Runbook: docs/runbooks/email-marketing-prod-pilot-checklist.md</a:t>
            </a:r>
          </a:p>
          <a:p>
            <a:pPr>
              <a:spcAft>
                <a:spcPts val="800"/>
              </a:spcAft>
              <a:defRPr sz="1600"/>
            </a:pPr>
            <a:r>
              <a:t>Incident: docs/runbooks/email-deliverability-incident.md</a:t>
            </a:r>
          </a:p>
          <a:p>
            <a:pPr>
              <a:spcAft>
                <a:spcPts val="800"/>
              </a:spcAft>
              <a:defRPr sz="1600"/>
            </a:pPr>
            <a:r>
              <a:t>Roadmap: docs/EMAIL_MARKETING_COMPLETION_ROADMAP.md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