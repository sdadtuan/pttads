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Bàn giao hệ thống PTTADS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Agency Operating Platform · Nest + Next.js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PTT Advertising Solutions</a:t>
            </a:r>
          </a:p>
          <a:p>
            <a:pPr>
              <a:spcAft>
                <a:spcPts val="800"/>
              </a:spcAft>
              <a:defRPr sz="1600"/>
            </a:pPr>
            <a:r>
              <a:t>Staff: ops.pttads.vn · Client: portal.pttads.vn</a:t>
            </a:r>
          </a:p>
          <a:p>
            <a:pPr>
              <a:spcAft>
                <a:spcPts val="800"/>
              </a:spcAft>
              <a:defRPr sz="1600"/>
            </a:pPr>
            <a:r>
              <a:t>Phân hệ: CRM · Meta · SEO/AEO · Email Marketing</a:t>
            </a:r>
          </a:p>
          <a:p>
            <a:pPr>
              <a:spcAft>
                <a:spcPts val="800"/>
              </a:spcAft>
              <a:defRPr sz="1600"/>
            </a:pPr>
            <a:r>
              <a:t>Tài liệu: docs/handover/ (01–06)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Tổng quan 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Flask HTTP retired — canonical Nest + ops-web + portal-web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Nginx TLS → ops-web :3200 (staff UI)</a:t>
            </a:r>
          </a:p>
          <a:p>
            <a:pPr>
              <a:spcAft>
                <a:spcPts val="800"/>
              </a:spcAft>
              <a:defRPr sz="1600"/>
            </a:pPr>
            <a:r>
              <a:t>portal-web :3100 (client UI)</a:t>
            </a:r>
          </a:p>
          <a:p>
            <a:pPr>
              <a:spcAft>
                <a:spcPts val="800"/>
              </a:spcAft>
              <a:defRPr sz="1600"/>
            </a:pPr>
            <a:r>
              <a:t>Nest ptt-crm-api :3000 (REST + webhooks)</a:t>
            </a:r>
          </a:p>
          <a:p>
            <a:pPr>
              <a:spcAft>
                <a:spcPts val="800"/>
              </a:spcAft>
              <a:defRPr sz="1600"/>
            </a:pPr>
            <a:r>
              <a:t>ptt_worker + PostgreSQL + job queue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Staff console — CRM &amp;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ops.pttads.vn/login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Leads · Customers · Hub HĐ · Service delivery</a:t>
            </a:r>
          </a:p>
          <a:p>
            <a:pPr>
              <a:spcAft>
                <a:spcPts val="800"/>
              </a:spcAft>
              <a:defRPr sz="1600"/>
            </a:pPr>
            <a:r>
              <a:t>Launch QA · Creative Hub · Campaign Write</a:t>
            </a:r>
          </a:p>
          <a:p>
            <a:pPr>
              <a:spcAft>
                <a:spcPts val="800"/>
              </a:spcAft>
              <a:defRPr sz="1600"/>
            </a:pPr>
            <a:r>
              <a:t>Workflow: Onboard → Deliver → Handover → Retain</a:t>
            </a:r>
          </a:p>
          <a:p>
            <a:pPr>
              <a:spcAft>
                <a:spcPts val="800"/>
              </a:spcAft>
              <a:defRPr sz="1600"/>
            </a:pPr>
            <a:r>
              <a:t>Agency: channel accounts, ingest, KPI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Meta Enterprise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/meta/facebook-ads · tracking · ads-ops ·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Hub: spend, leads CRM, CPL, ROAS (T-1)</a:t>
            </a:r>
          </a:p>
          <a:p>
            <a:pPr>
              <a:spcAft>
                <a:spcPts val="800"/>
              </a:spcAft>
              <a:defRPr sz="1600"/>
            </a:pPr>
            <a:r>
              <a:t>Tracking: CAPI, pixel test, webhook health</a:t>
            </a:r>
          </a:p>
          <a:p>
            <a:pPr>
              <a:spcAft>
                <a:spcPts val="800"/>
              </a:spcAft>
              <a:defRPr sz="1600"/>
            </a:pPr>
            <a:r>
              <a:t>Ads Ops: Launch/Edit wizard + governance</a:t>
            </a:r>
          </a:p>
          <a:p>
            <a:pPr>
              <a:spcAft>
                <a:spcPts val="800"/>
              </a:spcAft>
              <a:defRPr sz="1600"/>
            </a:pPr>
            <a:r>
              <a:t>Portal: portal.pttads.vn/meta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SEO/AEO Enterprise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/seo/hub · clients · content · technical ·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Hub executive + client health drill-down</a:t>
            </a:r>
          </a:p>
          <a:p>
            <a:pPr>
              <a:spcAft>
                <a:spcPts val="800"/>
              </a:spcAft>
              <a:defRPr sz="1600"/>
            </a:pPr>
            <a:r>
              <a:t>Content pipeline 13 stage + governance publish</a:t>
            </a:r>
          </a:p>
          <a:p>
            <a:pPr>
              <a:spcAft>
                <a:spcPts val="800"/>
              </a:spcAft>
              <a:defRPr sz="1600"/>
            </a:pPr>
            <a:r>
              <a:t>GSC/GA4 OAuth sync · AEO console</a:t>
            </a:r>
          </a:p>
          <a:p>
            <a:pPr>
              <a:spcAft>
                <a:spcPts val="800"/>
              </a:spcAft>
              <a:defRPr sz="1600"/>
            </a:pPr>
            <a:r>
              <a:t>Portal SEO + PDF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Email Marketing Enterprise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/email/hub · segments · campaigns · deliverability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Consent-first · suppression master</a:t>
            </a:r>
          </a:p>
          <a:p>
            <a:pPr>
              <a:spcAft>
                <a:spcPts val="800"/>
              </a:spcAft>
              <a:defRPr sz="1600"/>
            </a:pPr>
            <a:r>
              <a:t>Segment RFM/Lifecycle/Behavior · preflight QA</a:t>
            </a:r>
          </a:p>
          <a:p>
            <a:pPr>
              <a:spcAft>
                <a:spcPts val="800"/>
              </a:spcAft>
              <a:defRPr sz="1600"/>
            </a:pPr>
            <a:r>
              <a:t>Domain onboarding wizard · Grafana BI</a:t>
            </a:r>
          </a:p>
          <a:p>
            <a:pPr>
              <a:spcAft>
                <a:spcPts val="800"/>
              </a:spcAft>
              <a:defRPr sz="1600"/>
            </a:pPr>
            <a:r>
              <a:t>Portal approve campaign (flag pilot)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portal.pttads.vn — viewer &amp; approver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Dashboard KPI theo dịch vụ đang chạy</a:t>
            </a:r>
          </a:p>
          <a:p>
            <a:pPr>
              <a:spcAft>
                <a:spcPts val="800"/>
              </a:spcAft>
              <a:defRPr sz="1600"/>
            </a:pPr>
            <a:r>
              <a:t>Meta performance + CSV export</a:t>
            </a:r>
          </a:p>
          <a:p>
            <a:pPr>
              <a:spcAft>
                <a:spcPts val="800"/>
              </a:spcAft>
              <a:defRPr sz="1600"/>
            </a:pPr>
            <a:r>
              <a:t>SEO / Email approvals inbox</a:t>
            </a:r>
          </a:p>
          <a:p>
            <a:pPr>
              <a:spcAft>
                <a:spcPts val="800"/>
              </a:spcAft>
              <a:defRPr sz="1600"/>
            </a:pPr>
            <a:r>
              <a:t>Không truy cập cross-client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Phân quyền &amp; bảo mật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RBAC section keys · JWT · webhook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Staff caps theo module (crm, seo, email, meta)</a:t>
            </a:r>
          </a:p>
          <a:p>
            <a:pPr>
              <a:spcAft>
                <a:spcPts val="800"/>
              </a:spcAft>
              <a:defRPr sz="1600"/>
            </a:pPr>
            <a:r>
              <a:t>Portal scoped client_id</a:t>
            </a:r>
          </a:p>
          <a:p>
            <a:pPr>
              <a:spcAft>
                <a:spcPts val="800"/>
              </a:spcAft>
              <a:defRPr sz="1600"/>
            </a:pPr>
            <a:r>
              <a:t>Mật khẩu vault — không email plain text</a:t>
            </a:r>
          </a:p>
          <a:p>
            <a:pPr>
              <a:spcAft>
                <a:spcPts val="800"/>
              </a:spcAft>
              <a:defRPr sz="1600"/>
            </a:pPr>
            <a:r>
              <a:t>HTTPS only · PII redact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Nghiệm thu &amp; hỗ trợ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UAT smoke · sign-off A4 · SLA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Checklist: docs/handover/06 + form A4 in</a:t>
            </a:r>
          </a:p>
          <a:p>
            <a:pPr>
              <a:spcAft>
                <a:spcPts val="800"/>
              </a:spcAft>
              <a:defRPr sz="1600"/>
            </a:pPr>
            <a:r>
              <a:t>Hypercare 2–4 tuần post go-live</a:t>
            </a:r>
          </a:p>
          <a:p>
            <a:pPr>
              <a:spcAft>
                <a:spcPts val="800"/>
              </a:spcAft>
              <a:defRPr sz="1600"/>
            </a:pPr>
            <a:r>
              <a:t>P1: portal/webhook down — 30min ack</a:t>
            </a:r>
          </a:p>
          <a:p>
            <a:pPr>
              <a:spcAft>
                <a:spcPts val="800"/>
              </a:spcAft>
              <a:defRPr sz="1600"/>
            </a:pPr>
            <a:r>
              <a:t>Liên hệ AM + Tech Lead (điền tại bàn giao)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